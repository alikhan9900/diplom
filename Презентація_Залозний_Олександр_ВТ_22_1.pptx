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8" r:id="rId4"/>
    <p:sldId id="269" r:id="rId5"/>
    <p:sldId id="265" r:id="rId6"/>
    <p:sldId id="266" r:id="rId7"/>
    <p:sldId id="267" r:id="rId8"/>
    <p:sldId id="262" r:id="rId9"/>
    <p:sldId id="272" r:id="rId10"/>
    <p:sldId id="270" r:id="rId11"/>
    <p:sldId id="271" r:id="rId12"/>
    <p:sldId id="263" r:id="rId1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BFAE0-49FC-4254-DDD2-A37594261C5E}" name="Oleksandr Zaloznyi" initials="OZ" userId="6ae590a291311f6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Без стилю та сі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із теми 1 –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Помір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Світли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0" y="7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1F412-81BB-4626-9732-05F873C133FC}" type="datetimeFigureOut">
              <a:rPr lang="uk-UA" smtClean="0"/>
              <a:t>18.05.2026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581EE-FE69-401D-8013-BB770BA59785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4380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334962" y="1992473"/>
            <a:ext cx="11522075" cy="3190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uk-UA" dirty="0"/>
              <a:t>Зразок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77590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07"/>
            <a:ext cx="12192000" cy="6858000"/>
          </a:xfrm>
          <a:prstGeom prst="rect">
            <a:avLst/>
          </a:prstGeom>
        </p:spPr>
      </p:pic>
      <p:sp>
        <p:nvSpPr>
          <p:cNvPr id="7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334961" y="188914"/>
            <a:ext cx="11522075" cy="14051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 dirty="0"/>
              <a:t>Зразок заголовка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10"/>
          </p:nvPr>
        </p:nvSpPr>
        <p:spPr>
          <a:xfrm>
            <a:off x="334963" y="1593850"/>
            <a:ext cx="11522075" cy="4176713"/>
          </a:xfrm>
          <a:prstGeom prst="rect">
            <a:avLst/>
          </a:prstGeom>
        </p:spPr>
        <p:txBody>
          <a:bodyPr/>
          <a:lstStyle>
            <a:lvl1pPr>
              <a:defRPr sz="3600" b="1"/>
            </a:lvl1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2563952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ий слайд з вмі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07"/>
            <a:ext cx="12192000" cy="6858000"/>
          </a:xfrm>
          <a:prstGeom prst="rect">
            <a:avLst/>
          </a:prstGeom>
        </p:spPr>
      </p:pic>
      <p:sp>
        <p:nvSpPr>
          <p:cNvPr id="4" name="Місце для вмісту 3"/>
          <p:cNvSpPr>
            <a:spLocks noGrp="1"/>
          </p:cNvSpPr>
          <p:nvPr>
            <p:ph sz="quarter" idx="10"/>
          </p:nvPr>
        </p:nvSpPr>
        <p:spPr>
          <a:xfrm>
            <a:off x="334963" y="188913"/>
            <a:ext cx="11522075" cy="5578475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319292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Іна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2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89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3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2260" userDrawn="1">
          <p15:clr>
            <a:srgbClr val="F26B43"/>
          </p15:clr>
        </p15:guide>
        <p15:guide id="6" orient="horz" pos="37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4E6DD-3233-E31A-6A14-8408FD4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211424"/>
            <a:ext cx="10639425" cy="2417602"/>
          </a:xfrm>
        </p:spPr>
        <p:txBody>
          <a:bodyPr>
            <a:normAutofit/>
          </a:bodyPr>
          <a:lstStyle/>
          <a:p>
            <a:pPr algn="l"/>
            <a:r>
              <a:rPr lang="uk-UA" dirty="0"/>
              <a:t>ДИПЛОМНА РОБОТА НА ТЕМУ </a:t>
            </a:r>
            <a:r>
              <a:rPr lang="en-US" dirty="0"/>
              <a:t>“</a:t>
            </a:r>
            <a:r>
              <a:rPr lang="uk-UA" dirty="0"/>
              <a:t>ВЕБПЛАТФОРМА АНІМЕ ТА МАНГИ</a:t>
            </a:r>
            <a:r>
              <a:rPr lang="en-US" dirty="0"/>
              <a:t>”</a:t>
            </a:r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6E37F-C766-9713-CD91-3BA67421F73A}"/>
              </a:ext>
            </a:extLst>
          </p:cNvPr>
          <p:cNvSpPr txBox="1"/>
          <p:nvPr/>
        </p:nvSpPr>
        <p:spPr>
          <a:xfrm>
            <a:off x="828674" y="3629026"/>
            <a:ext cx="106394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uk-UA" dirty="0" err="1">
                <a:solidFill>
                  <a:schemeClr val="bg1"/>
                </a:solidFill>
              </a:rPr>
              <a:t>тудент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uk-UA" dirty="0">
                <a:solidFill>
                  <a:schemeClr val="bg1"/>
                </a:solidFill>
              </a:rPr>
              <a:t>ЗАЛОЗНИЙ Олександр Анатолійович</a:t>
            </a:r>
            <a:br>
              <a:rPr lang="uk-UA" dirty="0">
                <a:solidFill>
                  <a:schemeClr val="bg1"/>
                </a:solidFill>
              </a:rPr>
            </a:br>
            <a:r>
              <a:rPr lang="uk-UA" dirty="0">
                <a:solidFill>
                  <a:schemeClr val="bg1"/>
                </a:solidFill>
              </a:rPr>
              <a:t>Група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uk-UA" dirty="0">
                <a:solidFill>
                  <a:schemeClr val="bg1"/>
                </a:solidFill>
              </a:rPr>
              <a:t>ВТ-22-1</a:t>
            </a:r>
            <a:br>
              <a:rPr lang="uk-UA" dirty="0">
                <a:solidFill>
                  <a:schemeClr val="bg1"/>
                </a:solidFill>
              </a:rPr>
            </a:br>
            <a:r>
              <a:rPr lang="uk-UA" dirty="0">
                <a:solidFill>
                  <a:schemeClr val="bg1"/>
                </a:solidFill>
              </a:rPr>
              <a:t>Керівник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uk-UA" dirty="0">
                <a:solidFill>
                  <a:schemeClr val="bg1"/>
                </a:solidFill>
              </a:rPr>
              <a:t>САВІЦЬКИЙ Роман Святославович</a:t>
            </a:r>
            <a:br>
              <a:rPr lang="uk-UA" dirty="0">
                <a:solidFill>
                  <a:schemeClr val="bg1"/>
                </a:solidFill>
              </a:rPr>
            </a:br>
            <a:r>
              <a:rPr lang="uk-UA" dirty="0">
                <a:solidFill>
                  <a:schemeClr val="bg1"/>
                </a:solidFill>
              </a:rPr>
              <a:t>Рецензент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uk-UA" dirty="0">
                <a:solidFill>
                  <a:schemeClr val="bg1"/>
                </a:solidFill>
              </a:rPr>
              <a:t>ЄФРЕМОВ Юрій Миколайович</a:t>
            </a:r>
          </a:p>
        </p:txBody>
      </p:sp>
    </p:spTree>
    <p:extLst>
      <p:ext uri="{BB962C8B-B14F-4D97-AF65-F5344CB8AC3E}">
        <p14:creationId xmlns:p14="http://schemas.microsoft.com/office/powerpoint/2010/main" val="273985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4732F-0E52-9CFE-8F49-5E923A04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Актуальність</a:t>
            </a:r>
            <a:r>
              <a:rPr lang="en-US" dirty="0"/>
              <a:t> </a:t>
            </a:r>
            <a:r>
              <a:rPr lang="uk-UA" dirty="0"/>
              <a:t>та мета</a:t>
            </a:r>
          </a:p>
        </p:txBody>
      </p:sp>
      <p:sp>
        <p:nvSpPr>
          <p:cNvPr id="4" name="Картка Мета">
            <a:extLst>
              <a:ext uri="{FF2B5EF4-FFF2-40B4-BE49-F238E27FC236}">
                <a16:creationId xmlns:a16="http://schemas.microsoft.com/office/drawing/2014/main" id="{B6694D89-3EFB-B2A7-E523-B49B156A9C4D}"/>
              </a:ext>
            </a:extLst>
          </p:cNvPr>
          <p:cNvSpPr/>
          <p:nvPr/>
        </p:nvSpPr>
        <p:spPr>
          <a:xfrm>
            <a:off x="335036" y="4116865"/>
            <a:ext cx="11522000" cy="1420000"/>
          </a:xfrm>
          <a:prstGeom prst="roundRect">
            <a:avLst>
              <a:gd name="adj" fmla="val 5400"/>
            </a:avLst>
          </a:prstGeom>
          <a:solidFill>
            <a:srgbClr val="224D83"/>
          </a:solidFill>
          <a:ln>
            <a:noFill/>
          </a:ln>
        </p:spPr>
        <p:txBody>
          <a:bodyPr lIns="320040" tIns="173736" rIns="320040" bIns="173736" anchor="ctr"/>
          <a:lstStyle>
            <a:defPPr>
              <a:defRPr lang="uk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2000" b="1" dirty="0">
                <a:solidFill>
                  <a:srgbClr val="FFFFFF"/>
                </a:solidFill>
              </a:rPr>
              <a:t>Мета</a:t>
            </a:r>
          </a:p>
          <a:p>
            <a:pPr marL="0" indent="0">
              <a:buNone/>
            </a:pPr>
            <a:r>
              <a:rPr lang="uk-UA" sz="2000" dirty="0">
                <a:solidFill>
                  <a:srgbClr val="FFFFFF"/>
                </a:solidFill>
              </a:rPr>
              <a:t>Проєктування вебплатформи аніме та манги зі структурованим каталогом, інтелектуальним пошуком, рекомендаційною системою, аналітикою та користувацькою взаємодією.</a:t>
            </a:r>
          </a:p>
        </p:txBody>
      </p:sp>
      <p:sp>
        <p:nvSpPr>
          <p:cNvPr id="5" name="Картка Актуальність">
            <a:extLst>
              <a:ext uri="{FF2B5EF4-FFF2-40B4-BE49-F238E27FC236}">
                <a16:creationId xmlns:a16="http://schemas.microsoft.com/office/drawing/2014/main" id="{07AC5F1F-831A-CAAF-DAF4-FED676AC4C2D}"/>
              </a:ext>
            </a:extLst>
          </p:cNvPr>
          <p:cNvSpPr/>
          <p:nvPr/>
        </p:nvSpPr>
        <p:spPr>
          <a:xfrm>
            <a:off x="335036" y="1321135"/>
            <a:ext cx="11522000" cy="2420000"/>
          </a:xfrm>
          <a:prstGeom prst="roundRect">
            <a:avLst>
              <a:gd name="adj" fmla="val 3200"/>
            </a:avLst>
          </a:prstGeom>
          <a:solidFill>
            <a:srgbClr val="EAF0F7"/>
          </a:solidFill>
          <a:ln>
            <a:noFill/>
          </a:ln>
        </p:spPr>
        <p:txBody>
          <a:bodyPr lIns="320040" tIns="219456" rIns="320040" bIns="219456" anchor="ctr"/>
          <a:lstStyle/>
          <a:p>
            <a:r>
              <a:rPr lang="uk-UA" sz="2000" b="1" dirty="0">
                <a:solidFill>
                  <a:srgbClr val="224D83"/>
                </a:solidFill>
              </a:rPr>
              <a:t>Актуальність</a:t>
            </a:r>
            <a:br>
              <a:rPr lang="uk-UA" sz="2000" b="1" dirty="0"/>
            </a:br>
            <a:r>
              <a:rPr lang="uk-UA" sz="2000" dirty="0" err="1"/>
              <a:t>Аніме</a:t>
            </a:r>
            <a:r>
              <a:rPr lang="uk-UA" sz="2000" dirty="0"/>
              <a:t> та </a:t>
            </a:r>
            <a:r>
              <a:rPr lang="uk-UA" sz="2000" dirty="0" err="1"/>
              <a:t>манга</a:t>
            </a:r>
            <a:r>
              <a:rPr lang="uk-UA" sz="2000" dirty="0"/>
              <a:t> формують розгалужену цифрову екосистему: </a:t>
            </a:r>
            <a:r>
              <a:rPr lang="uk-UA" sz="2000" dirty="0" err="1"/>
              <a:t>тайтли</a:t>
            </a:r>
            <a:r>
              <a:rPr lang="uk-UA" sz="2000" dirty="0"/>
              <a:t>, адаптації, франшизи, спільноти та користувацький контент.</a:t>
            </a:r>
          </a:p>
          <a:p>
            <a:pPr marL="0" indent="0">
              <a:buNone/>
            </a:pPr>
            <a:r>
              <a:rPr lang="uk-UA" sz="2000" dirty="0"/>
              <a:t>Наявні сервіси здебільшого зосереджені на каталогах або списках перегляду та не поєднують україномовний контент, аналітику, рекомендації й активну взаємодію.</a:t>
            </a:r>
          </a:p>
        </p:txBody>
      </p:sp>
    </p:spTree>
    <p:extLst>
      <p:ext uri="{BB962C8B-B14F-4D97-AF65-F5344CB8AC3E}">
        <p14:creationId xmlns:p14="http://schemas.microsoft.com/office/powerpoint/2010/main" val="200530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D46F1-EA8E-8ED4-63D3-15F2B689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Предмет та об</a:t>
            </a:r>
            <a:r>
              <a:rPr lang="en-US" dirty="0"/>
              <a:t>’</a:t>
            </a:r>
            <a:r>
              <a:rPr lang="uk-UA" dirty="0" err="1"/>
              <a:t>єкт</a:t>
            </a:r>
            <a:r>
              <a:rPr lang="uk-UA" dirty="0"/>
              <a:t> дослідження</a:t>
            </a:r>
          </a:p>
        </p:txBody>
      </p:sp>
      <p:sp>
        <p:nvSpPr>
          <p:cNvPr id="6" name="Картка Об'єкт">
            <a:extLst>
              <a:ext uri="{FF2B5EF4-FFF2-40B4-BE49-F238E27FC236}">
                <a16:creationId xmlns:a16="http://schemas.microsoft.com/office/drawing/2014/main" id="{486DE4CB-CE77-0045-5B68-973499F8EEDC}"/>
              </a:ext>
            </a:extLst>
          </p:cNvPr>
          <p:cNvSpPr/>
          <p:nvPr/>
        </p:nvSpPr>
        <p:spPr>
          <a:xfrm>
            <a:off x="334961" y="1165329"/>
            <a:ext cx="11522000" cy="1500000"/>
          </a:xfrm>
          <a:prstGeom prst="roundRect">
            <a:avLst>
              <a:gd name="adj" fmla="val 5200"/>
            </a:avLst>
          </a:prstGeom>
          <a:solidFill>
            <a:srgbClr val="EAF0F7"/>
          </a:solidFill>
          <a:ln>
            <a:noFill/>
          </a:ln>
        </p:spPr>
        <p:txBody>
          <a:bodyPr lIns="320040" tIns="173736" rIns="320040" bIns="173736" anchor="ctr"/>
          <a:lstStyle/>
          <a:p>
            <a:pPr marL="0" indent="0">
              <a:buNone/>
            </a:pPr>
            <a:r>
              <a:rPr lang="uk-UA" sz="2000" b="1" dirty="0">
                <a:solidFill>
                  <a:srgbClr val="224D83"/>
                </a:solidFill>
              </a:rPr>
              <a:t>Об’єкт дослідження</a:t>
            </a:r>
          </a:p>
          <a:p>
            <a:pPr marL="0" indent="0">
              <a:buNone/>
            </a:pPr>
            <a:r>
              <a:rPr lang="ru-RU" sz="2000" dirty="0" err="1"/>
              <a:t>Процес</a:t>
            </a:r>
            <a:r>
              <a:rPr lang="ru-RU" sz="2000" dirty="0"/>
              <a:t> </a:t>
            </a:r>
            <a:r>
              <a:rPr lang="ru-RU" sz="2000" dirty="0" err="1"/>
              <a:t>розробки</a:t>
            </a:r>
            <a:r>
              <a:rPr lang="ru-RU" sz="2000" dirty="0"/>
              <a:t> </a:t>
            </a:r>
            <a:r>
              <a:rPr lang="ru-RU" sz="2000" dirty="0" err="1"/>
              <a:t>веборієнтованих</a:t>
            </a:r>
            <a:r>
              <a:rPr lang="ru-RU" sz="2000" dirty="0"/>
              <a:t> </a:t>
            </a:r>
            <a:r>
              <a:rPr lang="ru-RU" sz="2000" dirty="0" err="1"/>
              <a:t>інформаційних</a:t>
            </a:r>
            <a:r>
              <a:rPr lang="ru-RU" sz="2000" dirty="0"/>
              <a:t> систем для </a:t>
            </a:r>
            <a:r>
              <a:rPr lang="ru-RU" sz="2000" dirty="0" err="1"/>
              <a:t>роботи</a:t>
            </a:r>
            <a:r>
              <a:rPr lang="ru-RU" sz="2000" dirty="0"/>
              <a:t> з </a:t>
            </a:r>
            <a:r>
              <a:rPr lang="ru-RU" sz="2000" dirty="0" err="1"/>
              <a:t>цифровим</a:t>
            </a:r>
            <a:r>
              <a:rPr lang="ru-RU" sz="2000" dirty="0"/>
              <a:t> </a:t>
            </a:r>
            <a:r>
              <a:rPr lang="ru-RU" sz="2000" dirty="0" err="1"/>
              <a:t>медіаконтентом</a:t>
            </a:r>
            <a:r>
              <a:rPr lang="ru-RU" sz="2000" dirty="0"/>
              <a:t>.</a:t>
            </a:r>
          </a:p>
        </p:txBody>
      </p:sp>
      <p:sp>
        <p:nvSpPr>
          <p:cNvPr id="7" name="Картка Предмет">
            <a:extLst>
              <a:ext uri="{FF2B5EF4-FFF2-40B4-BE49-F238E27FC236}">
                <a16:creationId xmlns:a16="http://schemas.microsoft.com/office/drawing/2014/main" id="{E6D30F7E-84A0-C261-A02F-5064C7BABCA3}"/>
              </a:ext>
            </a:extLst>
          </p:cNvPr>
          <p:cNvSpPr/>
          <p:nvPr/>
        </p:nvSpPr>
        <p:spPr>
          <a:xfrm>
            <a:off x="334961" y="2913736"/>
            <a:ext cx="11522000" cy="2320000"/>
          </a:xfrm>
          <a:prstGeom prst="roundRect">
            <a:avLst>
              <a:gd name="adj" fmla="val 3400"/>
            </a:avLst>
          </a:prstGeom>
          <a:solidFill>
            <a:srgbClr val="224D83"/>
          </a:solidFill>
          <a:ln>
            <a:noFill/>
          </a:ln>
        </p:spPr>
        <p:txBody>
          <a:bodyPr lIns="320040" tIns="219456" rIns="320040" bIns="219456" anchor="ctr"/>
          <a:lstStyle/>
          <a:p>
            <a:pPr marL="0" indent="0">
              <a:buNone/>
            </a:pPr>
            <a:r>
              <a:rPr lang="uk-UA" sz="2000" b="1" dirty="0">
                <a:solidFill>
                  <a:srgbClr val="FFFFFF"/>
                </a:solidFill>
              </a:rPr>
              <a:t>Предмет дослідження</a:t>
            </a:r>
          </a:p>
          <a:p>
            <a:pPr marL="0" indent="0">
              <a:buNone/>
            </a:pPr>
            <a:r>
              <a:rPr lang="uk-UA" sz="2000" dirty="0">
                <a:solidFill>
                  <a:srgbClr val="FFFFFF"/>
                </a:solidFill>
              </a:rPr>
              <a:t>Методи та засоби розробки </a:t>
            </a:r>
            <a:r>
              <a:rPr lang="uk-UA" sz="2000" dirty="0" err="1">
                <a:solidFill>
                  <a:srgbClr val="FFFFFF"/>
                </a:solidFill>
              </a:rPr>
              <a:t>вебплатформи</a:t>
            </a:r>
            <a:r>
              <a:rPr lang="uk-UA" sz="2000" dirty="0">
                <a:solidFill>
                  <a:srgbClr val="FFFFFF"/>
                </a:solidFill>
              </a:rPr>
              <a:t> </a:t>
            </a:r>
            <a:r>
              <a:rPr lang="uk-UA" sz="2000" dirty="0" err="1">
                <a:solidFill>
                  <a:srgbClr val="FFFFFF"/>
                </a:solidFill>
              </a:rPr>
              <a:t>аніме</a:t>
            </a:r>
            <a:r>
              <a:rPr lang="uk-UA" sz="2000" dirty="0">
                <a:solidFill>
                  <a:srgbClr val="FFFFFF"/>
                </a:solidFill>
              </a:rPr>
              <a:t> та </a:t>
            </a:r>
            <a:r>
              <a:rPr lang="uk-UA" sz="2000" dirty="0" err="1">
                <a:solidFill>
                  <a:srgbClr val="FFFFFF"/>
                </a:solidFill>
              </a:rPr>
              <a:t>манги</a:t>
            </a:r>
            <a:r>
              <a:rPr lang="uk-UA" sz="2000" dirty="0">
                <a:solidFill>
                  <a:srgbClr val="FFFFFF"/>
                </a:solidFill>
              </a:rPr>
              <a:t>, зокрема механізми каталогізації, уніфікації назв, формування персональних списків, відображення </a:t>
            </a:r>
            <a:r>
              <a:rPr lang="uk-UA" sz="2000" dirty="0" err="1">
                <a:solidFill>
                  <a:srgbClr val="FFFFFF"/>
                </a:solidFill>
              </a:rPr>
              <a:t>зв’язків</a:t>
            </a:r>
            <a:r>
              <a:rPr lang="uk-UA" sz="2000" dirty="0">
                <a:solidFill>
                  <a:srgbClr val="FFFFFF"/>
                </a:solidFill>
              </a:rPr>
              <a:t> між творами та </a:t>
            </a:r>
            <a:r>
              <a:rPr lang="uk-UA" sz="2000" dirty="0" err="1">
                <a:solidFill>
                  <a:srgbClr val="FFFFFF"/>
                </a:solidFill>
              </a:rPr>
              <a:t>модерації</a:t>
            </a:r>
            <a:r>
              <a:rPr lang="uk-UA" sz="2000" dirty="0">
                <a:solidFill>
                  <a:srgbClr val="FFFFFF"/>
                </a:solidFill>
              </a:rPr>
              <a:t> даних.</a:t>
            </a:r>
          </a:p>
        </p:txBody>
      </p:sp>
    </p:spTree>
    <p:extLst>
      <p:ext uri="{BB962C8B-B14F-4D97-AF65-F5344CB8AC3E}">
        <p14:creationId xmlns:p14="http://schemas.microsoft.com/office/powerpoint/2010/main" val="1907050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Аналіз аналогів</a:t>
            </a:r>
          </a:p>
        </p:txBody>
      </p:sp>
      <p:sp>
        <p:nvSpPr>
          <p:cNvPr id="9" name="Вступ"/>
          <p:cNvSpPr txBox="1"/>
          <p:nvPr/>
        </p:nvSpPr>
        <p:spPr>
          <a:xfrm>
            <a:off x="350000" y="1620000"/>
            <a:ext cx="11492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uk-UA" dirty="0">
                <a:solidFill>
                  <a:srgbClr val="224D83"/>
                </a:solidFill>
              </a:rPr>
              <a:t>Розглянуто три провідні вебсервіси у сфері аніме та манги та визначено їхній основний фокус.</a:t>
            </a:r>
          </a:p>
        </p:txBody>
      </p:sp>
      <p:sp>
        <p:nvSpPr>
          <p:cNvPr id="10" name="Картка MyAnimeList"/>
          <p:cNvSpPr/>
          <p:nvPr/>
        </p:nvSpPr>
        <p:spPr>
          <a:xfrm>
            <a:off x="335000" y="2060000"/>
            <a:ext cx="5611000" cy="1680000"/>
          </a:xfrm>
          <a:prstGeom prst="roundRect">
            <a:avLst>
              <a:gd name="adj" fmla="val 4500"/>
            </a:avLst>
          </a:prstGeom>
          <a:solidFill>
            <a:srgbClr val="EAF0F7"/>
          </a:solidFill>
          <a:ln>
            <a:noFill/>
          </a:ln>
        </p:spPr>
        <p:txBody>
          <a:bodyPr lIns="274320" tIns="173736" rIns="274320" bIns="173736" anchor="ctr"/>
          <a:lstStyle/>
          <a:p>
            <a:pPr marL="0" indent="0">
              <a:buNone/>
            </a:pPr>
            <a:r>
              <a:rPr lang="uk-UA" sz="1900" b="1" dirty="0">
                <a:solidFill>
                  <a:srgbClr val="224D83"/>
                </a:solidFill>
              </a:rPr>
              <a:t>MyAnimeList</a:t>
            </a:r>
          </a:p>
          <a:p>
            <a:pPr marL="0" indent="0">
              <a:buNone/>
            </a:pPr>
            <a:r>
              <a:rPr lang="uk-UA" sz="1450" dirty="0">
                <a:solidFill>
                  <a:srgbClr val="224D83"/>
                </a:solidFill>
              </a:rPr>
              <a:t>Один із найбільших каталогів аніме та манги. Деталізовані сторінки творів і персонажів, персональні списки, рецензії та форум.</a:t>
            </a:r>
          </a:p>
        </p:txBody>
      </p:sp>
      <p:sp>
        <p:nvSpPr>
          <p:cNvPr id="11" name="Картка ANN"/>
          <p:cNvSpPr/>
          <p:nvPr/>
        </p:nvSpPr>
        <p:spPr>
          <a:xfrm>
            <a:off x="6246000" y="2060000"/>
            <a:ext cx="5611000" cy="1680000"/>
          </a:xfrm>
          <a:prstGeom prst="roundRect">
            <a:avLst>
              <a:gd name="adj" fmla="val 4500"/>
            </a:avLst>
          </a:prstGeom>
          <a:solidFill>
            <a:srgbClr val="EAF0F7"/>
          </a:solidFill>
          <a:ln>
            <a:noFill/>
          </a:ln>
        </p:spPr>
        <p:txBody>
          <a:bodyPr lIns="274320" tIns="173736" rIns="274320" bIns="173736" anchor="ctr"/>
          <a:lstStyle/>
          <a:p>
            <a:pPr marL="0" indent="0">
              <a:buNone/>
            </a:pPr>
            <a:r>
              <a:rPr lang="uk-UA" sz="1900" b="1" dirty="0">
                <a:solidFill>
                  <a:srgbClr val="224D83"/>
                </a:solidFill>
              </a:rPr>
              <a:t>Anime News Network</a:t>
            </a:r>
          </a:p>
          <a:p>
            <a:pPr marL="0" indent="0">
              <a:buNone/>
            </a:pPr>
            <a:r>
              <a:rPr lang="uk-UA" sz="1450" dirty="0">
                <a:solidFill>
                  <a:srgbClr val="224D83"/>
                </a:solidFill>
              </a:rPr>
              <a:t>Інформаційний портал з акцентом на новинах індустрії. Каталог творів виконує допоміжну роль.</a:t>
            </a:r>
          </a:p>
        </p:txBody>
      </p:sp>
      <p:sp>
        <p:nvSpPr>
          <p:cNvPr id="12" name="Картка AniList"/>
          <p:cNvSpPr/>
          <p:nvPr/>
        </p:nvSpPr>
        <p:spPr>
          <a:xfrm>
            <a:off x="3290498" y="4018001"/>
            <a:ext cx="5611000" cy="1680000"/>
          </a:xfrm>
          <a:prstGeom prst="roundRect">
            <a:avLst>
              <a:gd name="adj" fmla="val 4500"/>
            </a:avLst>
          </a:prstGeom>
          <a:solidFill>
            <a:srgbClr val="EAF0F7"/>
          </a:solidFill>
          <a:ln>
            <a:noFill/>
          </a:ln>
        </p:spPr>
        <p:txBody>
          <a:bodyPr lIns="274320" tIns="173736" rIns="274320" bIns="173736" anchor="ctr"/>
          <a:lstStyle/>
          <a:p>
            <a:pPr marL="0" indent="0">
              <a:buNone/>
            </a:pPr>
            <a:r>
              <a:rPr lang="uk-UA" sz="1900" b="1" dirty="0">
                <a:solidFill>
                  <a:srgbClr val="224D83"/>
                </a:solidFill>
              </a:rPr>
              <a:t>AniList</a:t>
            </a:r>
          </a:p>
          <a:p>
            <a:pPr marL="0" indent="0">
              <a:buNone/>
            </a:pPr>
            <a:r>
              <a:rPr lang="uk-UA" sz="1450" dirty="0">
                <a:solidFill>
                  <a:srgbClr val="224D83"/>
                </a:solidFill>
              </a:rPr>
              <a:t>Сучасна платформа з орієнтацією на персоналізацію. Гнучке фільтрування та розширена аналітика профілю користувача.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Аналіз аналогів</a:t>
            </a:r>
          </a:p>
        </p:txBody>
      </p:sp>
      <p:sp>
        <p:nvSpPr>
          <p:cNvPr id="10" name="Назва MAL"/>
          <p:cNvSpPr txBox="1"/>
          <p:nvPr/>
        </p:nvSpPr>
        <p:spPr>
          <a:xfrm>
            <a:off x="335000" y="1610000"/>
            <a:ext cx="3654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uk-UA" sz="1700" b="1" dirty="0">
                <a:solidFill>
                  <a:srgbClr val="224D83"/>
                </a:solidFill>
              </a:rPr>
              <a:t>MyAnimeList</a:t>
            </a:r>
          </a:p>
        </p:txBody>
      </p:sp>
      <p:pic>
        <p:nvPicPr>
          <p:cNvPr id="11" name="Скріншот M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00" y="2030000"/>
            <a:ext cx="3654000" cy="1960000"/>
          </a:xfrm>
          <a:prstGeom prst="rect">
            <a:avLst/>
          </a:prstGeom>
          <a:ln w="9525">
            <a:solidFill>
              <a:srgbClr val="C5D5E8"/>
            </a:solidFill>
          </a:ln>
        </p:spPr>
      </p:pic>
      <p:sp>
        <p:nvSpPr>
          <p:cNvPr id="12" name="Спостереження MAL"/>
          <p:cNvSpPr txBox="1"/>
          <p:nvPr/>
        </p:nvSpPr>
        <p:spPr>
          <a:xfrm>
            <a:off x="335000" y="4080000"/>
            <a:ext cx="3654000" cy="15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300"/>
              </a:spcBef>
            </a:pPr>
            <a:r>
              <a:rPr lang="uk-UA" sz="1300" dirty="0">
                <a:solidFill>
                  <a:srgbClr val="224D83"/>
                </a:solidFill>
              </a:rPr>
              <a:t>Розширений каталог, персональні списки та рекомендації.</a:t>
            </a:r>
          </a:p>
          <a:p>
            <a:pPr>
              <a:spcBef>
                <a:spcPts val="500"/>
              </a:spcBef>
            </a:pPr>
            <a:r>
              <a:rPr lang="uk-UA" sz="1300" dirty="0">
                <a:solidFill>
                  <a:srgbClr val="224D83"/>
                </a:solidFill>
              </a:rPr>
              <a:t>Зв’язки між творами подані лише текстово, без графа.</a:t>
            </a:r>
          </a:p>
        </p:txBody>
      </p:sp>
      <p:sp>
        <p:nvSpPr>
          <p:cNvPr id="13" name="Назва ANN"/>
          <p:cNvSpPr txBox="1"/>
          <p:nvPr/>
        </p:nvSpPr>
        <p:spPr>
          <a:xfrm>
            <a:off x="4269000" y="1610000"/>
            <a:ext cx="3654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uk-UA" sz="1700" b="1" dirty="0">
                <a:solidFill>
                  <a:srgbClr val="224D83"/>
                </a:solidFill>
              </a:rPr>
              <a:t>Anime News Network</a:t>
            </a:r>
          </a:p>
        </p:txBody>
      </p:sp>
      <p:pic>
        <p:nvPicPr>
          <p:cNvPr id="14" name="Скріншот AN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000" y="2030000"/>
            <a:ext cx="3654000" cy="1960000"/>
          </a:xfrm>
          <a:prstGeom prst="rect">
            <a:avLst/>
          </a:prstGeom>
          <a:ln w="9525">
            <a:solidFill>
              <a:srgbClr val="C5D5E8"/>
            </a:solidFill>
          </a:ln>
        </p:spPr>
      </p:pic>
      <p:sp>
        <p:nvSpPr>
          <p:cNvPr id="15" name="Спостереження ANN"/>
          <p:cNvSpPr txBox="1"/>
          <p:nvPr/>
        </p:nvSpPr>
        <p:spPr>
          <a:xfrm>
            <a:off x="4269000" y="4080000"/>
            <a:ext cx="3654000" cy="15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300"/>
              </a:spcBef>
            </a:pPr>
            <a:r>
              <a:rPr lang="uk-UA" sz="1300" dirty="0">
                <a:solidFill>
                  <a:srgbClr val="224D83"/>
                </a:solidFill>
              </a:rPr>
              <a:t>Сильний новинний блок індустрії.</a:t>
            </a:r>
          </a:p>
          <a:p>
            <a:pPr>
              <a:spcBef>
                <a:spcPts val="500"/>
              </a:spcBef>
            </a:pPr>
            <a:r>
              <a:rPr lang="uk-UA" sz="1300" dirty="0">
                <a:solidFill>
                  <a:srgbClr val="224D83"/>
                </a:solidFill>
              </a:rPr>
              <a:t>Повноцінні персональні списки та рекомендації відсутні.</a:t>
            </a:r>
          </a:p>
        </p:txBody>
      </p:sp>
      <p:sp>
        <p:nvSpPr>
          <p:cNvPr id="16" name="Назва AniList"/>
          <p:cNvSpPr txBox="1"/>
          <p:nvPr/>
        </p:nvSpPr>
        <p:spPr>
          <a:xfrm>
            <a:off x="8203000" y="1610000"/>
            <a:ext cx="3654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uk-UA" sz="1700" b="1" dirty="0">
                <a:solidFill>
                  <a:srgbClr val="224D83"/>
                </a:solidFill>
              </a:rPr>
              <a:t>AniList</a:t>
            </a:r>
          </a:p>
        </p:txBody>
      </p:sp>
      <p:pic>
        <p:nvPicPr>
          <p:cNvPr id="17" name="Скріншот AniLi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00" y="2030000"/>
            <a:ext cx="3654000" cy="1960000"/>
          </a:xfrm>
          <a:prstGeom prst="rect">
            <a:avLst/>
          </a:prstGeom>
          <a:ln w="9525">
            <a:solidFill>
              <a:srgbClr val="C5D5E8"/>
            </a:solidFill>
          </a:ln>
        </p:spPr>
      </p:pic>
      <p:sp>
        <p:nvSpPr>
          <p:cNvPr id="18" name="Спостереження AniList"/>
          <p:cNvSpPr txBox="1"/>
          <p:nvPr/>
        </p:nvSpPr>
        <p:spPr>
          <a:xfrm>
            <a:off x="8203000" y="4080000"/>
            <a:ext cx="3654000" cy="15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300"/>
              </a:spcBef>
            </a:pPr>
            <a:r>
              <a:rPr lang="uk-UA" sz="1300" dirty="0">
                <a:solidFill>
                  <a:srgbClr val="224D83"/>
                </a:solidFill>
              </a:rPr>
              <a:t>Гнучкий пошук і розширена аналітика профілю.</a:t>
            </a:r>
          </a:p>
          <a:p>
            <a:pPr>
              <a:spcBef>
                <a:spcPts val="500"/>
              </a:spcBef>
            </a:pPr>
            <a:r>
              <a:rPr lang="uk-UA" sz="1300" dirty="0">
                <a:solidFill>
                  <a:srgbClr val="224D83"/>
                </a:solidFill>
              </a:rPr>
              <a:t>Графова модель візуалізації франшиз відсутня.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Аналіз аналогів</a:t>
            </a:r>
          </a:p>
        </p:txBody>
      </p:sp>
      <p:sp>
        <p:nvSpPr>
          <p:cNvPr id="9" name="Підзаголовок"/>
          <p:cNvSpPr txBox="1"/>
          <p:nvPr/>
        </p:nvSpPr>
        <p:spPr>
          <a:xfrm>
            <a:off x="350000" y="1560000"/>
            <a:ext cx="11492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uk-UA" sz="1600" b="1" dirty="0">
                <a:solidFill>
                  <a:srgbClr val="224D83"/>
                </a:solidFill>
              </a:rPr>
              <a:t>Порівняння функціональних можливостей платформ</a:t>
            </a:r>
          </a:p>
        </p:txBody>
      </p:sp>
      <p:graphicFrame>
        <p:nvGraphicFramePr>
          <p:cNvPr id="10" name="Порівняльна таблиця"/>
          <p:cNvGraphicFramePr/>
          <p:nvPr>
            <p:extLst>
              <p:ext uri="{D42A27DB-BD31-4B8C-83A1-F6EECF244321}">
                <p14:modId xmlns:p14="http://schemas.microsoft.com/office/powerpoint/2010/main" val="2171588110"/>
              </p:ext>
            </p:extLst>
          </p:nvPr>
        </p:nvGraphicFramePr>
        <p:xfrm>
          <a:off x="335000" y="1920000"/>
          <a:ext cx="11491999" cy="369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393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4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4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4714">
                  <a:extLst>
                    <a:ext uri="{9D8B030D-6E8A-4147-A177-3AD203B41FA5}">
                      <a16:colId xmlns:a16="http://schemas.microsoft.com/office/drawing/2014/main" val="348538239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uk-UA" sz="1250" b="1" dirty="0">
                          <a:solidFill>
                            <a:srgbClr val="FFFFFF"/>
                          </a:solidFill>
                          <a:latin typeface="+mn-lt"/>
                        </a:rPr>
                        <a:t>Критерій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224D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50" b="1">
                          <a:solidFill>
                            <a:srgbClr val="FFFFFF"/>
                          </a:solidFill>
                          <a:latin typeface="+mn-lt"/>
                        </a:rPr>
                        <a:t>MyAnimeList</a:t>
                      </a:r>
                      <a:endParaRPr lang="uk-UA" sz="125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224D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50" b="1">
                          <a:solidFill>
                            <a:srgbClr val="FFFFFF"/>
                          </a:solidFill>
                          <a:latin typeface="+mn-lt"/>
                        </a:rPr>
                        <a:t>Anime News Network</a:t>
                      </a:r>
                      <a:endParaRPr lang="uk-UA" sz="125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224D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5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AniList</a:t>
                      </a:r>
                      <a:endParaRPr lang="uk-UA" sz="125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224D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250" b="1" dirty="0">
                          <a:solidFill>
                            <a:srgbClr val="FFFFFF"/>
                          </a:solidFill>
                          <a:latin typeface="+mn-lt"/>
                        </a:rPr>
                        <a:t>A</a:t>
                      </a:r>
                      <a:r>
                        <a:rPr lang="en-US" sz="125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niMan</a:t>
                      </a:r>
                      <a:endParaRPr lang="uk-UA" sz="125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D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000">
                <a:tc>
                  <a:txBody>
                    <a:bodyPr/>
                    <a:lstStyle/>
                    <a:p>
                      <a:pPr algn="l"/>
                      <a:r>
                        <a:rPr lang="uk-UA" sz="1150" b="1">
                          <a:solidFill>
                            <a:srgbClr val="224D83"/>
                          </a:solidFill>
                          <a:latin typeface="+mn-lt"/>
                        </a:rPr>
                        <a:t>Повноцінний каталог</a:t>
                      </a:r>
                      <a:endParaRPr lang="uk-UA" sz="1150" b="1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Частково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000">
                <a:tc>
                  <a:txBody>
                    <a:bodyPr/>
                    <a:lstStyle/>
                    <a:p>
                      <a:pPr algn="l"/>
                      <a:r>
                        <a:rPr lang="uk-UA" sz="1150" b="1">
                          <a:solidFill>
                            <a:srgbClr val="224D83"/>
                          </a:solidFill>
                          <a:latin typeface="+mn-lt"/>
                        </a:rPr>
                        <a:t>Деталізація сторінки твору</a:t>
                      </a:r>
                      <a:endParaRPr lang="uk-UA" sz="1150" b="1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Висока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Середня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Висока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000">
                <a:tc>
                  <a:txBody>
                    <a:bodyPr/>
                    <a:lstStyle/>
                    <a:p>
                      <a:pPr algn="l"/>
                      <a:r>
                        <a:rPr lang="uk-UA" sz="1150" b="1">
                          <a:solidFill>
                            <a:srgbClr val="224D83"/>
                          </a:solidFill>
                          <a:latin typeface="+mn-lt"/>
                        </a:rPr>
                        <a:t>Окремі сторінки персонажів</a:t>
                      </a:r>
                      <a:endParaRPr lang="uk-UA" sz="1150" b="1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Деталізовані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Обмежені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Деталізовані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000">
                <a:tc>
                  <a:txBody>
                    <a:bodyPr/>
                    <a:lstStyle/>
                    <a:p>
                      <a:pPr algn="l"/>
                      <a:r>
                        <a:rPr lang="uk-UA" sz="1150" b="1" dirty="0">
                          <a:solidFill>
                            <a:srgbClr val="224D83"/>
                          </a:solidFill>
                          <a:latin typeface="+mn-lt"/>
                        </a:rPr>
                        <a:t>Персональні списки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Розширені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Відсутні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Гнучкі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Розширені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000">
                <a:tc>
                  <a:txBody>
                    <a:bodyPr/>
                    <a:lstStyle/>
                    <a:p>
                      <a:pPr algn="l"/>
                      <a:r>
                        <a:rPr lang="uk-UA" sz="1150" b="1">
                          <a:solidFill>
                            <a:srgbClr val="224D83"/>
                          </a:solidFill>
                          <a:latin typeface="+mn-lt"/>
                        </a:rPr>
                        <a:t>Відгуки та коментарі</a:t>
                      </a:r>
                      <a:endParaRPr lang="uk-UA" sz="1150" b="1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До новин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000">
                <a:tc>
                  <a:txBody>
                    <a:bodyPr/>
                    <a:lstStyle/>
                    <a:p>
                      <a:pPr algn="l"/>
                      <a:r>
                        <a:rPr lang="uk-UA" sz="1150" b="1">
                          <a:solidFill>
                            <a:srgbClr val="224D83"/>
                          </a:solidFill>
                          <a:latin typeface="+mn-lt"/>
                        </a:rPr>
                        <a:t>Форумний модуль</a:t>
                      </a:r>
                      <a:endParaRPr lang="uk-UA" sz="1150" b="1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Частково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Частково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000">
                <a:tc>
                  <a:txBody>
                    <a:bodyPr/>
                    <a:lstStyle/>
                    <a:p>
                      <a:pPr algn="l"/>
                      <a:r>
                        <a:rPr lang="uk-UA" sz="1150" b="1">
                          <a:solidFill>
                            <a:srgbClr val="224D83"/>
                          </a:solidFill>
                          <a:latin typeface="+mn-lt"/>
                        </a:rPr>
                        <a:t>Рекомендації</a:t>
                      </a:r>
                      <a:endParaRPr lang="uk-UA" sz="1150" b="1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000">
                <a:tc>
                  <a:txBody>
                    <a:bodyPr/>
                    <a:lstStyle/>
                    <a:p>
                      <a:pPr algn="l"/>
                      <a:r>
                        <a:rPr lang="uk-UA" sz="1150" b="1">
                          <a:solidFill>
                            <a:srgbClr val="224D83"/>
                          </a:solidFill>
                          <a:latin typeface="+mn-lt"/>
                        </a:rPr>
                        <a:t>Розширений пошук</a:t>
                      </a:r>
                      <a:endParaRPr lang="uk-UA" sz="1150" b="1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Обмежений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Базовий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Розширений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000">
                <a:tc>
                  <a:txBody>
                    <a:bodyPr/>
                    <a:lstStyle/>
                    <a:p>
                      <a:pPr algn="l"/>
                      <a:r>
                        <a:rPr lang="uk-UA" sz="1150" b="1">
                          <a:solidFill>
                            <a:srgbClr val="224D83"/>
                          </a:solidFill>
                          <a:latin typeface="+mn-lt"/>
                        </a:rPr>
                        <a:t>Графова модель франшиз</a:t>
                      </a:r>
                      <a:endParaRPr lang="uk-UA" sz="1150" b="1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Відсутня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Відсутня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Відсутня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000">
                <a:tc>
                  <a:txBody>
                    <a:bodyPr/>
                    <a:lstStyle/>
                    <a:p>
                      <a:pPr algn="l"/>
                      <a:r>
                        <a:rPr lang="uk-UA" sz="1150" b="1">
                          <a:solidFill>
                            <a:srgbClr val="224D83"/>
                          </a:solidFill>
                          <a:latin typeface="+mn-lt"/>
                        </a:rPr>
                        <a:t>Аналітика профілю</a:t>
                      </a:r>
                      <a:endParaRPr lang="uk-UA" sz="1150" b="1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>
                          <a:solidFill>
                            <a:srgbClr val="224D83"/>
                          </a:solidFill>
                          <a:latin typeface="+mn-lt"/>
                        </a:rPr>
                        <a:t>Базова</a:t>
                      </a:r>
                      <a:endParaRPr lang="uk-UA" sz="1150" b="0" dirty="0">
                        <a:solidFill>
                          <a:srgbClr val="224D83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Розширена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150" b="0" dirty="0">
                          <a:solidFill>
                            <a:srgbClr val="224D83"/>
                          </a:solidFill>
                          <a:latin typeface="+mn-lt"/>
                        </a:rPr>
                        <a:t>+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rgbClr val="C5D5E8"/>
                      </a:solidFill>
                    </a:lnL>
                    <a:lnR w="6350" cap="flat" cmpd="sng" algn="ctr">
                      <a:solidFill>
                        <a:srgbClr val="C5D5E8"/>
                      </a:solidFill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Аналіз аналогів</a:t>
            </a:r>
          </a:p>
        </p:txBody>
      </p:sp>
      <p:sp>
        <p:nvSpPr>
          <p:cNvPr id="10" name="Висновок аналізу"/>
          <p:cNvSpPr/>
          <p:nvPr/>
        </p:nvSpPr>
        <p:spPr>
          <a:xfrm>
            <a:off x="335000" y="1640000"/>
            <a:ext cx="11522000" cy="1180000"/>
          </a:xfrm>
          <a:prstGeom prst="roundRect">
            <a:avLst>
              <a:gd name="adj" fmla="val 6500"/>
            </a:avLst>
          </a:prstGeom>
          <a:solidFill>
            <a:srgbClr val="224D83"/>
          </a:solidFill>
          <a:ln>
            <a:noFill/>
          </a:ln>
        </p:spPr>
        <p:txBody>
          <a:bodyPr lIns="320040" tIns="146304" rIns="320040" bIns="146304" anchor="ctr"/>
          <a:lstStyle/>
          <a:p>
            <a:pPr marL="0" indent="0">
              <a:buNone/>
            </a:pPr>
            <a:r>
              <a:rPr lang="uk-UA" sz="1900" b="1" dirty="0">
                <a:solidFill>
                  <a:srgbClr val="FFFFFF"/>
                </a:solidFill>
              </a:rPr>
              <a:t>Висновок аналізу</a:t>
            </a:r>
          </a:p>
          <a:p>
            <a:pPr marL="0" indent="0">
              <a:buNone/>
            </a:pPr>
            <a:r>
              <a:rPr lang="uk-UA" sz="1550" dirty="0">
                <a:solidFill>
                  <a:srgbClr val="FFFFFF"/>
                </a:solidFill>
              </a:rPr>
              <a:t>Жодна з розглянутих платформ не поєднує структурований каталог, розширену аналітику та графову візуалізацію франшиз у межах єдиного комплексного рішення.</a:t>
            </a:r>
          </a:p>
        </p:txBody>
      </p:sp>
      <p:sp>
        <p:nvSpPr>
          <p:cNvPr id="11" name="Підзаголовок переваги"/>
          <p:cNvSpPr txBox="1"/>
          <p:nvPr/>
        </p:nvSpPr>
        <p:spPr>
          <a:xfrm>
            <a:off x="350000" y="2900000"/>
            <a:ext cx="11492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uk-UA" sz="1700" b="1" dirty="0">
                <a:solidFill>
                  <a:srgbClr val="224D83"/>
                </a:solidFill>
              </a:rPr>
              <a:t>Переваги системи, що розробляється</a:t>
            </a:r>
          </a:p>
        </p:txBody>
      </p:sp>
      <p:sp>
        <p:nvSpPr>
          <p:cNvPr id="12" name="Перевага 1"/>
          <p:cNvSpPr/>
          <p:nvPr/>
        </p:nvSpPr>
        <p:spPr>
          <a:xfrm>
            <a:off x="335000" y="3260000"/>
            <a:ext cx="5611000" cy="1110000"/>
          </a:xfrm>
          <a:prstGeom prst="roundRect">
            <a:avLst>
              <a:gd name="adj" fmla="val 6500"/>
            </a:avLst>
          </a:prstGeom>
          <a:solidFill>
            <a:srgbClr val="EAF0F7"/>
          </a:solidFill>
          <a:ln>
            <a:noFill/>
          </a:ln>
        </p:spPr>
        <p:txBody>
          <a:bodyPr lIns="274320" tIns="128016" rIns="274320" bIns="128016" anchor="ctr"/>
          <a:lstStyle/>
          <a:p>
            <a:pPr marL="0" indent="0">
              <a:buNone/>
            </a:pPr>
            <a:r>
              <a:rPr lang="uk-UA" sz="1600" b="1" dirty="0">
                <a:solidFill>
                  <a:srgbClr val="224D83"/>
                </a:solidFill>
              </a:rPr>
              <a:t>Єдине комплексне україномовне рішення</a:t>
            </a:r>
          </a:p>
          <a:p>
            <a:pPr marL="0" indent="0">
              <a:buNone/>
            </a:pPr>
            <a:r>
              <a:rPr lang="uk-UA" sz="1300" dirty="0">
                <a:solidFill>
                  <a:srgbClr val="224D83"/>
                </a:solidFill>
              </a:rPr>
              <a:t>Каталог, аналітика, рекомендації та взаємодія спільноти в одній платформі.</a:t>
            </a:r>
          </a:p>
        </p:txBody>
      </p:sp>
      <p:sp>
        <p:nvSpPr>
          <p:cNvPr id="13" name="Перевага 2"/>
          <p:cNvSpPr/>
          <p:nvPr/>
        </p:nvSpPr>
        <p:spPr>
          <a:xfrm>
            <a:off x="6246000" y="3260000"/>
            <a:ext cx="5611000" cy="1110000"/>
          </a:xfrm>
          <a:prstGeom prst="roundRect">
            <a:avLst>
              <a:gd name="adj" fmla="val 6500"/>
            </a:avLst>
          </a:prstGeom>
          <a:solidFill>
            <a:srgbClr val="EAF0F7"/>
          </a:solidFill>
          <a:ln>
            <a:noFill/>
          </a:ln>
        </p:spPr>
        <p:txBody>
          <a:bodyPr lIns="274320" tIns="128016" rIns="274320" bIns="128016" anchor="ctr"/>
          <a:lstStyle/>
          <a:p>
            <a:pPr marL="0" indent="0">
              <a:buNone/>
            </a:pPr>
            <a:r>
              <a:rPr lang="uk-UA" sz="1600" b="1" dirty="0">
                <a:solidFill>
                  <a:srgbClr val="224D83"/>
                </a:solidFill>
              </a:rPr>
              <a:t>Графова модель франшиз</a:t>
            </a:r>
          </a:p>
          <a:p>
            <a:pPr marL="0" indent="0">
              <a:buNone/>
            </a:pPr>
            <a:r>
              <a:rPr lang="uk-UA" sz="1300" dirty="0">
                <a:solidFill>
                  <a:srgbClr val="224D83"/>
                </a:solidFill>
              </a:rPr>
              <a:t>Збереження та візуалізація зв’язків між пов’язаними творами.</a:t>
            </a:r>
          </a:p>
        </p:txBody>
      </p:sp>
      <p:sp>
        <p:nvSpPr>
          <p:cNvPr id="14" name="Перевага 3"/>
          <p:cNvSpPr/>
          <p:nvPr/>
        </p:nvSpPr>
        <p:spPr>
          <a:xfrm>
            <a:off x="335000" y="4570000"/>
            <a:ext cx="5611000" cy="1110000"/>
          </a:xfrm>
          <a:prstGeom prst="roundRect">
            <a:avLst>
              <a:gd name="adj" fmla="val 6500"/>
            </a:avLst>
          </a:prstGeom>
          <a:solidFill>
            <a:srgbClr val="EAF0F7"/>
          </a:solidFill>
          <a:ln>
            <a:noFill/>
          </a:ln>
        </p:spPr>
        <p:txBody>
          <a:bodyPr lIns="274320" tIns="128016" rIns="274320" bIns="128016" anchor="ctr"/>
          <a:lstStyle/>
          <a:p>
            <a:pPr marL="0" indent="0">
              <a:buNone/>
            </a:pPr>
            <a:r>
              <a:rPr lang="uk-UA" sz="1600" b="1" dirty="0">
                <a:solidFill>
                  <a:srgbClr val="224D83"/>
                </a:solidFill>
              </a:rPr>
              <a:t>Рекомендації та інтелектуальний пошук</a:t>
            </a:r>
          </a:p>
          <a:p>
            <a:pPr marL="0" indent="0">
              <a:buNone/>
            </a:pPr>
            <a:r>
              <a:rPr lang="uk-UA" sz="1300" dirty="0">
                <a:solidFill>
                  <a:srgbClr val="224D83"/>
                </a:solidFill>
              </a:rPr>
              <a:t>Правило-орієнтовані рекомендації та пошук з опціональним LLM.</a:t>
            </a:r>
          </a:p>
        </p:txBody>
      </p:sp>
      <p:sp>
        <p:nvSpPr>
          <p:cNvPr id="15" name="Перевага 4"/>
          <p:cNvSpPr/>
          <p:nvPr/>
        </p:nvSpPr>
        <p:spPr>
          <a:xfrm>
            <a:off x="6246000" y="4570000"/>
            <a:ext cx="5611000" cy="1110000"/>
          </a:xfrm>
          <a:prstGeom prst="roundRect">
            <a:avLst>
              <a:gd name="adj" fmla="val 6500"/>
            </a:avLst>
          </a:prstGeom>
          <a:solidFill>
            <a:srgbClr val="EAF0F7"/>
          </a:solidFill>
          <a:ln>
            <a:noFill/>
          </a:ln>
        </p:spPr>
        <p:txBody>
          <a:bodyPr lIns="274320" tIns="128016" rIns="274320" bIns="128016" anchor="ctr"/>
          <a:lstStyle/>
          <a:p>
            <a:pPr marL="0" indent="0">
              <a:buNone/>
            </a:pPr>
            <a:r>
              <a:rPr lang="uk-UA" sz="1600" b="1" dirty="0">
                <a:solidFill>
                  <a:srgbClr val="224D83"/>
                </a:solidFill>
              </a:rPr>
              <a:t>Розширена аналітика та спільнота</a:t>
            </a:r>
          </a:p>
          <a:p>
            <a:pPr marL="0" indent="0">
              <a:buNone/>
            </a:pPr>
            <a:r>
              <a:rPr lang="uk-UA" sz="1300" dirty="0">
                <a:solidFill>
                  <a:srgbClr val="224D83"/>
                </a:solidFill>
              </a:rPr>
              <a:t>Аналітика профілю, форум, колекції та структурована взаємодія користувачів.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F989D-3284-E054-9ED4-C82D2D4D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База даних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F387F-487A-DBD3-9E24-153F748C042E}"/>
              </a:ext>
            </a:extLst>
          </p:cNvPr>
          <p:cNvSpPr txBox="1"/>
          <p:nvPr/>
        </p:nvSpPr>
        <p:spPr>
          <a:xfrm>
            <a:off x="334960" y="1270856"/>
            <a:ext cx="115220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uk-UA" sz="1800" dirty="0">
                <a:solidFill>
                  <a:srgbClr val="224D83"/>
                </a:solidFill>
              </a:rPr>
              <a:t>Реляційна база даних на </a:t>
            </a:r>
            <a:r>
              <a:rPr lang="uk-UA" sz="1800" dirty="0" err="1">
                <a:solidFill>
                  <a:srgbClr val="224D83"/>
                </a:solidFill>
              </a:rPr>
              <a:t>PostgreSQL</a:t>
            </a:r>
            <a:r>
              <a:rPr lang="uk-UA" sz="1800" dirty="0">
                <a:solidFill>
                  <a:srgbClr val="224D83"/>
                </a:solidFill>
              </a:rPr>
              <a:t>: нормалізована структура з цілісними зв’язками між сутностями.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8347E6A-2A82-C2A0-4279-8D6464282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91" y="2323038"/>
            <a:ext cx="5872986" cy="311523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F4BE390-AEA1-50BF-2A35-0338E9D9F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425" y="1872500"/>
            <a:ext cx="5671610" cy="486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14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F989D-3284-E054-9ED4-C82D2D4D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База даних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DC05E7-8A6C-66A5-E50D-6BF353CE1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231" y="293547"/>
            <a:ext cx="7752221" cy="627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60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Технологічний стек</a:t>
            </a:r>
          </a:p>
        </p:txBody>
      </p:sp>
      <p:sp>
        <p:nvSpPr>
          <p:cNvPr id="100" name="Панель"/>
          <p:cNvSpPr/>
          <p:nvPr/>
        </p:nvSpPr>
        <p:spPr>
          <a:xfrm>
            <a:off x="335000" y="1660000"/>
            <a:ext cx="2700500" cy="4010000"/>
          </a:xfrm>
          <a:prstGeom prst="roundRect">
            <a:avLst>
              <a:gd name="adj" fmla="val 4000"/>
            </a:avLst>
          </a:prstGeom>
          <a:solidFill>
            <a:srgbClr val="EAF0F7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01" name="Панель"/>
          <p:cNvSpPr/>
          <p:nvPr/>
        </p:nvSpPr>
        <p:spPr>
          <a:xfrm>
            <a:off x="3275500" y="1660000"/>
            <a:ext cx="2700500" cy="4010000"/>
          </a:xfrm>
          <a:prstGeom prst="roundRect">
            <a:avLst>
              <a:gd name="adj" fmla="val 4000"/>
            </a:avLst>
          </a:prstGeom>
          <a:solidFill>
            <a:srgbClr val="EAF0F7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02" name="Панель"/>
          <p:cNvSpPr/>
          <p:nvPr/>
        </p:nvSpPr>
        <p:spPr>
          <a:xfrm>
            <a:off x="6216000" y="1660000"/>
            <a:ext cx="2700500" cy="4010000"/>
          </a:xfrm>
          <a:prstGeom prst="roundRect">
            <a:avLst>
              <a:gd name="adj" fmla="val 4000"/>
            </a:avLst>
          </a:prstGeom>
          <a:solidFill>
            <a:srgbClr val="EAF0F7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03" name="Панель"/>
          <p:cNvSpPr/>
          <p:nvPr/>
        </p:nvSpPr>
        <p:spPr>
          <a:xfrm>
            <a:off x="9156500" y="1660000"/>
            <a:ext cx="2700500" cy="4010000"/>
          </a:xfrm>
          <a:prstGeom prst="roundRect">
            <a:avLst>
              <a:gd name="adj" fmla="val 4000"/>
            </a:avLst>
          </a:prstGeom>
          <a:solidFill>
            <a:srgbClr val="EAF0F7"/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104" name="Заголовок групи"/>
          <p:cNvSpPr/>
          <p:nvPr/>
        </p:nvSpPr>
        <p:spPr>
          <a:xfrm>
            <a:off x="335000" y="1660000"/>
            <a:ext cx="2700500" cy="470000"/>
          </a:xfrm>
          <a:prstGeom prst="roundRect">
            <a:avLst>
              <a:gd name="adj" fmla="val 16000"/>
            </a:avLst>
          </a:prstGeom>
          <a:solidFill>
            <a:srgbClr val="224D83"/>
          </a:solidFill>
          <a:ln>
            <a:noFill/>
          </a:ln>
        </p:spPr>
        <p:txBody>
          <a:bodyPr lIns="45720" tIns="27432" rIns="45720" bIns="27432" anchor="ctr"/>
          <a:lstStyle/>
          <a:p>
            <a:pPr marL="0" indent="0" algn="ctr">
              <a:buNone/>
            </a:pPr>
            <a:r>
              <a:rPr lang="uk-UA" sz="1300" b="1" dirty="0">
                <a:solidFill>
                  <a:srgbClr val="FFFFFF"/>
                </a:solidFill>
              </a:rPr>
              <a:t>Frontend</a:t>
            </a:r>
          </a:p>
        </p:txBody>
      </p:sp>
      <p:pic>
        <p:nvPicPr>
          <p:cNvPr id="105" name="Лого Next.js"/>
          <p:cNvPicPr>
            <a:picLocks noChangeAspect="1"/>
          </p:cNvPicPr>
          <p:nvPr/>
        </p:nvPicPr>
        <p:blipFill rotWithShape="1">
          <a:blip r:embed="rId2"/>
          <a:srcRect t="22807" b="22456"/>
          <a:stretch>
            <a:fillRect/>
          </a:stretch>
        </p:blipFill>
        <p:spPr>
          <a:xfrm>
            <a:off x="1265040" y="2230000"/>
            <a:ext cx="840420" cy="460000"/>
          </a:xfrm>
          <a:prstGeom prst="rect">
            <a:avLst/>
          </a:prstGeom>
        </p:spPr>
      </p:pic>
      <p:sp>
        <p:nvSpPr>
          <p:cNvPr id="106" name="Підпис Next.js"/>
          <p:cNvSpPr txBox="1"/>
          <p:nvPr/>
        </p:nvSpPr>
        <p:spPr>
          <a:xfrm>
            <a:off x="335000" y="272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Next.js</a:t>
            </a:r>
          </a:p>
        </p:txBody>
      </p:sp>
      <p:pic>
        <p:nvPicPr>
          <p:cNvPr id="107" name="Лого React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00280" y="3070000"/>
            <a:ext cx="569940" cy="460000"/>
          </a:xfrm>
          <a:prstGeom prst="rect">
            <a:avLst/>
          </a:prstGeom>
        </p:spPr>
      </p:pic>
      <p:sp>
        <p:nvSpPr>
          <p:cNvPr id="108" name="Підпис React"/>
          <p:cNvSpPr txBox="1"/>
          <p:nvPr/>
        </p:nvSpPr>
        <p:spPr>
          <a:xfrm>
            <a:off x="335000" y="356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React</a:t>
            </a:r>
          </a:p>
        </p:txBody>
      </p:sp>
      <p:pic>
        <p:nvPicPr>
          <p:cNvPr id="109" name="Лого TypeScript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55250" y="3910000"/>
            <a:ext cx="460000" cy="460000"/>
          </a:xfrm>
          <a:prstGeom prst="rect">
            <a:avLst/>
          </a:prstGeom>
        </p:spPr>
      </p:pic>
      <p:sp>
        <p:nvSpPr>
          <p:cNvPr id="110" name="Підпис TypeScript"/>
          <p:cNvSpPr txBox="1"/>
          <p:nvPr/>
        </p:nvSpPr>
        <p:spPr>
          <a:xfrm>
            <a:off x="335000" y="440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TypeScript</a:t>
            </a:r>
          </a:p>
        </p:txBody>
      </p:sp>
      <p:pic>
        <p:nvPicPr>
          <p:cNvPr id="111" name="Лого Tailwind CSS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09200" y="4750000"/>
            <a:ext cx="752100" cy="460000"/>
          </a:xfrm>
          <a:prstGeom prst="rect">
            <a:avLst/>
          </a:prstGeom>
        </p:spPr>
      </p:pic>
      <p:sp>
        <p:nvSpPr>
          <p:cNvPr id="112" name="Підпис Tailwind CSS"/>
          <p:cNvSpPr txBox="1"/>
          <p:nvPr/>
        </p:nvSpPr>
        <p:spPr>
          <a:xfrm>
            <a:off x="335000" y="524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Tailwind CSS</a:t>
            </a:r>
          </a:p>
        </p:txBody>
      </p:sp>
      <p:sp>
        <p:nvSpPr>
          <p:cNvPr id="113" name="Заголовок групи"/>
          <p:cNvSpPr/>
          <p:nvPr/>
        </p:nvSpPr>
        <p:spPr>
          <a:xfrm>
            <a:off x="3275500" y="1660000"/>
            <a:ext cx="2700500" cy="470000"/>
          </a:xfrm>
          <a:prstGeom prst="roundRect">
            <a:avLst>
              <a:gd name="adj" fmla="val 16000"/>
            </a:avLst>
          </a:prstGeom>
          <a:solidFill>
            <a:srgbClr val="224D83"/>
          </a:solidFill>
          <a:ln>
            <a:noFill/>
          </a:ln>
        </p:spPr>
        <p:txBody>
          <a:bodyPr lIns="45720" tIns="27432" rIns="45720" bIns="27432" anchor="ctr"/>
          <a:lstStyle/>
          <a:p>
            <a:pPr marL="0" indent="0" algn="ctr">
              <a:buNone/>
            </a:pPr>
            <a:r>
              <a:rPr lang="uk-UA" sz="1300" b="1" dirty="0">
                <a:solidFill>
                  <a:srgbClr val="FFFFFF"/>
                </a:solidFill>
              </a:rPr>
              <a:t>Backend / API</a:t>
            </a:r>
          </a:p>
        </p:txBody>
      </p:sp>
      <p:pic>
        <p:nvPicPr>
          <p:cNvPr id="114" name="Лого Prisma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95750" y="2650000"/>
            <a:ext cx="460000" cy="460000"/>
          </a:xfrm>
          <a:prstGeom prst="rect">
            <a:avLst/>
          </a:prstGeom>
        </p:spPr>
      </p:pic>
      <p:sp>
        <p:nvSpPr>
          <p:cNvPr id="115" name="Підпис Prisma"/>
          <p:cNvSpPr txBox="1"/>
          <p:nvPr/>
        </p:nvSpPr>
        <p:spPr>
          <a:xfrm>
            <a:off x="3275500" y="314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Prisma</a:t>
            </a:r>
          </a:p>
        </p:txBody>
      </p:sp>
      <p:sp>
        <p:nvSpPr>
          <p:cNvPr id="116" name="Бейдж REST API"/>
          <p:cNvSpPr/>
          <p:nvPr/>
        </p:nvSpPr>
        <p:spPr>
          <a:xfrm>
            <a:off x="3805750" y="3665000"/>
            <a:ext cx="1640000" cy="430000"/>
          </a:xfrm>
          <a:prstGeom prst="roundRect">
            <a:avLst>
              <a:gd name="adj" fmla="val 24000"/>
            </a:avLst>
          </a:prstGeom>
          <a:solidFill>
            <a:srgbClr val="5B9BD5"/>
          </a:solidFill>
          <a:ln>
            <a:noFill/>
          </a:ln>
        </p:spPr>
        <p:txBody>
          <a:bodyPr lIns="45720" tIns="18000" rIns="45720" bIns="18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</a:rPr>
              <a:t>REST API</a:t>
            </a:r>
          </a:p>
        </p:txBody>
      </p:sp>
      <p:sp>
        <p:nvSpPr>
          <p:cNvPr id="117" name="Бейдж JWT"/>
          <p:cNvSpPr/>
          <p:nvPr/>
        </p:nvSpPr>
        <p:spPr>
          <a:xfrm>
            <a:off x="3805750" y="4505000"/>
            <a:ext cx="1640000" cy="430000"/>
          </a:xfrm>
          <a:prstGeom prst="roundRect">
            <a:avLst>
              <a:gd name="adj" fmla="val 24000"/>
            </a:avLst>
          </a:prstGeom>
          <a:solidFill>
            <a:srgbClr val="5B9BD5"/>
          </a:solidFill>
          <a:ln>
            <a:noFill/>
          </a:ln>
        </p:spPr>
        <p:txBody>
          <a:bodyPr lIns="45720" tIns="18000" rIns="45720" bIns="18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</a:rPr>
              <a:t>JWT</a:t>
            </a:r>
          </a:p>
        </p:txBody>
      </p:sp>
      <p:sp>
        <p:nvSpPr>
          <p:cNvPr id="118" name="Заголовок групи"/>
          <p:cNvSpPr/>
          <p:nvPr/>
        </p:nvSpPr>
        <p:spPr>
          <a:xfrm>
            <a:off x="6216000" y="1660000"/>
            <a:ext cx="2700500" cy="470000"/>
          </a:xfrm>
          <a:prstGeom prst="roundRect">
            <a:avLst>
              <a:gd name="adj" fmla="val 16000"/>
            </a:avLst>
          </a:prstGeom>
          <a:solidFill>
            <a:srgbClr val="224D83"/>
          </a:solidFill>
          <a:ln>
            <a:noFill/>
          </a:ln>
        </p:spPr>
        <p:txBody>
          <a:bodyPr lIns="45720" tIns="27432" rIns="45720" bIns="27432" anchor="ctr"/>
          <a:lstStyle/>
          <a:p>
            <a:pPr marL="0" indent="0" algn="ctr">
              <a:buNone/>
            </a:pPr>
            <a:r>
              <a:rPr lang="uk-UA" sz="1300" b="1" dirty="0">
                <a:solidFill>
                  <a:srgbClr val="FFFFFF"/>
                </a:solidFill>
              </a:rPr>
              <a:t>База даних і сховище</a:t>
            </a:r>
          </a:p>
        </p:txBody>
      </p:sp>
      <p:pic>
        <p:nvPicPr>
          <p:cNvPr id="119" name="Лого PostgreSQL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342920" y="2650000"/>
            <a:ext cx="446660" cy="460000"/>
          </a:xfrm>
          <a:prstGeom prst="rect">
            <a:avLst/>
          </a:prstGeom>
        </p:spPr>
      </p:pic>
      <p:sp>
        <p:nvSpPr>
          <p:cNvPr id="120" name="Підпис PostgreSQL"/>
          <p:cNvSpPr txBox="1"/>
          <p:nvPr/>
        </p:nvSpPr>
        <p:spPr>
          <a:xfrm>
            <a:off x="6216000" y="314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PostgreSQL</a:t>
            </a:r>
          </a:p>
        </p:txBody>
      </p:sp>
      <p:pic>
        <p:nvPicPr>
          <p:cNvPr id="121" name="Лого Neon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336250" y="3490000"/>
            <a:ext cx="460000" cy="460000"/>
          </a:xfrm>
          <a:prstGeom prst="rect">
            <a:avLst/>
          </a:prstGeom>
        </p:spPr>
      </p:pic>
      <p:sp>
        <p:nvSpPr>
          <p:cNvPr id="122" name="Підпис Neon"/>
          <p:cNvSpPr txBox="1"/>
          <p:nvPr/>
        </p:nvSpPr>
        <p:spPr>
          <a:xfrm>
            <a:off x="6216000" y="398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Neon</a:t>
            </a:r>
          </a:p>
        </p:txBody>
      </p:sp>
      <p:pic>
        <p:nvPicPr>
          <p:cNvPr id="123" name="Лого Cloudinary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7336250" y="4330000"/>
            <a:ext cx="460000" cy="460000"/>
          </a:xfrm>
          <a:prstGeom prst="rect">
            <a:avLst/>
          </a:prstGeom>
        </p:spPr>
      </p:pic>
      <p:sp>
        <p:nvSpPr>
          <p:cNvPr id="124" name="Підпис Cloudinary"/>
          <p:cNvSpPr txBox="1"/>
          <p:nvPr/>
        </p:nvSpPr>
        <p:spPr>
          <a:xfrm>
            <a:off x="6216000" y="482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Cloudinary</a:t>
            </a:r>
          </a:p>
        </p:txBody>
      </p:sp>
      <p:sp>
        <p:nvSpPr>
          <p:cNvPr id="125" name="Заголовок групи"/>
          <p:cNvSpPr/>
          <p:nvPr/>
        </p:nvSpPr>
        <p:spPr>
          <a:xfrm>
            <a:off x="9156500" y="1660000"/>
            <a:ext cx="2700500" cy="470000"/>
          </a:xfrm>
          <a:prstGeom prst="roundRect">
            <a:avLst>
              <a:gd name="adj" fmla="val 16000"/>
            </a:avLst>
          </a:prstGeom>
          <a:solidFill>
            <a:srgbClr val="224D83"/>
          </a:solidFill>
          <a:ln>
            <a:noFill/>
          </a:ln>
        </p:spPr>
        <p:txBody>
          <a:bodyPr lIns="45720" tIns="27432" rIns="45720" bIns="27432" anchor="ctr"/>
          <a:lstStyle/>
          <a:p>
            <a:pPr marL="0" indent="0" algn="ctr">
              <a:buNone/>
            </a:pPr>
            <a:r>
              <a:rPr lang="uk-UA" sz="1300" b="1" dirty="0">
                <a:solidFill>
                  <a:srgbClr val="FFFFFF"/>
                </a:solidFill>
              </a:rPr>
              <a:t>Розгортання та інструменти</a:t>
            </a:r>
          </a:p>
        </p:txBody>
      </p:sp>
      <p:pic>
        <p:nvPicPr>
          <p:cNvPr id="126" name="Лого Vercel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756750" y="2730270"/>
            <a:ext cx="1500000" cy="299460"/>
          </a:xfrm>
          <a:prstGeom prst="rect">
            <a:avLst/>
          </a:prstGeom>
        </p:spPr>
      </p:pic>
      <p:sp>
        <p:nvSpPr>
          <p:cNvPr id="127" name="Підпис Vercel"/>
          <p:cNvSpPr txBox="1"/>
          <p:nvPr/>
        </p:nvSpPr>
        <p:spPr>
          <a:xfrm>
            <a:off x="9156500" y="314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Vercel</a:t>
            </a:r>
          </a:p>
        </p:txBody>
      </p:sp>
      <p:pic>
        <p:nvPicPr>
          <p:cNvPr id="128" name="Лого Git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0276750" y="3490000"/>
            <a:ext cx="460000" cy="460000"/>
          </a:xfrm>
          <a:prstGeom prst="rect">
            <a:avLst/>
          </a:prstGeom>
        </p:spPr>
      </p:pic>
      <p:sp>
        <p:nvSpPr>
          <p:cNvPr id="129" name="Підпис Git"/>
          <p:cNvSpPr txBox="1"/>
          <p:nvPr/>
        </p:nvSpPr>
        <p:spPr>
          <a:xfrm>
            <a:off x="9156500" y="398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Git</a:t>
            </a:r>
          </a:p>
        </p:txBody>
      </p:sp>
      <p:pic>
        <p:nvPicPr>
          <p:cNvPr id="130" name="Лого GitLab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0276750" y="4330000"/>
            <a:ext cx="460000" cy="460000"/>
          </a:xfrm>
          <a:prstGeom prst="rect">
            <a:avLst/>
          </a:prstGeom>
        </p:spPr>
      </p:pic>
      <p:sp>
        <p:nvSpPr>
          <p:cNvPr id="131" name="Підпис GitLab"/>
          <p:cNvSpPr txBox="1"/>
          <p:nvPr/>
        </p:nvSpPr>
        <p:spPr>
          <a:xfrm>
            <a:off x="9156500" y="4820000"/>
            <a:ext cx="27005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4D83"/>
                </a:solidFill>
                <a:latin typeface="+mn-lt"/>
              </a:rPr>
              <a:t>GitLab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</a:t>
            </a:r>
          </a:p>
        </p:txBody>
      </p:sp>
      <p:sp>
        <p:nvSpPr>
          <p:cNvPr id="10" name="Теза 1"/>
          <p:cNvSpPr/>
          <p:nvPr/>
        </p:nvSpPr>
        <p:spPr>
          <a:xfrm>
            <a:off x="335000" y="1720000"/>
            <a:ext cx="11522000" cy="680000"/>
          </a:xfrm>
          <a:prstGeom prst="roundRect">
            <a:avLst>
              <a:gd name="adj" fmla="val 10000"/>
            </a:avLst>
          </a:prstGeom>
          <a:solidFill>
            <a:srgbClr val="EAF0F7"/>
          </a:solidFill>
          <a:ln>
            <a:noFill/>
          </a:ln>
        </p:spPr>
        <p:txBody>
          <a:bodyPr lIns="900000" tIns="73152" rIns="320040" bIns="73152" anchor="ctr"/>
          <a:lstStyle/>
          <a:p>
            <a:pPr marL="0" indent="0">
              <a:buNone/>
            </a:pPr>
            <a:r>
              <a:rPr lang="uk-UA" sz="1600" dirty="0">
                <a:solidFill>
                  <a:srgbClr val="224D83"/>
                </a:solidFill>
              </a:rPr>
              <a:t>Сформульовано постановку задачі та визначено функціональні й нефункціональні вимоги.</a:t>
            </a:r>
          </a:p>
        </p:txBody>
      </p:sp>
      <p:sp>
        <p:nvSpPr>
          <p:cNvPr id="11" name="Номер 1"/>
          <p:cNvSpPr/>
          <p:nvPr/>
        </p:nvSpPr>
        <p:spPr>
          <a:xfrm>
            <a:off x="505000" y="1820000"/>
            <a:ext cx="480000" cy="4800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uk-UA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Теза 2"/>
          <p:cNvSpPr/>
          <p:nvPr/>
        </p:nvSpPr>
        <p:spPr>
          <a:xfrm>
            <a:off x="335000" y="2520000"/>
            <a:ext cx="11522000" cy="680000"/>
          </a:xfrm>
          <a:prstGeom prst="roundRect">
            <a:avLst>
              <a:gd name="adj" fmla="val 10000"/>
            </a:avLst>
          </a:prstGeom>
          <a:solidFill>
            <a:srgbClr val="EAF0F7"/>
          </a:solidFill>
          <a:ln>
            <a:noFill/>
          </a:ln>
        </p:spPr>
        <p:txBody>
          <a:bodyPr lIns="900000" tIns="73152" rIns="320040" bIns="73152" anchor="ctr"/>
          <a:lstStyle/>
          <a:p>
            <a:pPr marL="0" indent="0">
              <a:buNone/>
            </a:pPr>
            <a:r>
              <a:rPr lang="uk-UA" sz="1600" dirty="0">
                <a:solidFill>
                  <a:srgbClr val="224D83"/>
                </a:solidFill>
              </a:rPr>
              <a:t>Проведено аналіз чотирьох аналогів і виявлено відсутність єдиного комплексного рішення.</a:t>
            </a:r>
          </a:p>
        </p:txBody>
      </p:sp>
      <p:sp>
        <p:nvSpPr>
          <p:cNvPr id="13" name="Номер 2"/>
          <p:cNvSpPr/>
          <p:nvPr/>
        </p:nvSpPr>
        <p:spPr>
          <a:xfrm>
            <a:off x="505000" y="2620000"/>
            <a:ext cx="480000" cy="4800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uk-UA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Теза 3"/>
          <p:cNvSpPr/>
          <p:nvPr/>
        </p:nvSpPr>
        <p:spPr>
          <a:xfrm>
            <a:off x="335000" y="3320000"/>
            <a:ext cx="11522000" cy="680000"/>
          </a:xfrm>
          <a:prstGeom prst="roundRect">
            <a:avLst>
              <a:gd name="adj" fmla="val 10000"/>
            </a:avLst>
          </a:prstGeom>
          <a:solidFill>
            <a:srgbClr val="EAF0F7"/>
          </a:solidFill>
          <a:ln>
            <a:noFill/>
          </a:ln>
        </p:spPr>
        <p:txBody>
          <a:bodyPr lIns="900000" tIns="73152" rIns="320040" bIns="73152" anchor="ctr"/>
          <a:lstStyle/>
          <a:p>
            <a:pPr marL="0" indent="0">
              <a:buNone/>
            </a:pPr>
            <a:r>
              <a:rPr lang="uk-UA" sz="1600" dirty="0">
                <a:solidFill>
                  <a:srgbClr val="224D83"/>
                </a:solidFill>
              </a:rPr>
              <a:t>Обґрунтовано клієнт-серверну архітектуру на базі Next.js із REST API та PostgreSQL.</a:t>
            </a:r>
          </a:p>
        </p:txBody>
      </p:sp>
      <p:sp>
        <p:nvSpPr>
          <p:cNvPr id="15" name="Номер 3"/>
          <p:cNvSpPr/>
          <p:nvPr/>
        </p:nvSpPr>
        <p:spPr>
          <a:xfrm>
            <a:off x="505000" y="3420000"/>
            <a:ext cx="480000" cy="4800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uk-UA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Теза 4"/>
          <p:cNvSpPr/>
          <p:nvPr/>
        </p:nvSpPr>
        <p:spPr>
          <a:xfrm>
            <a:off x="335000" y="4120000"/>
            <a:ext cx="11522000" cy="680000"/>
          </a:xfrm>
          <a:prstGeom prst="roundRect">
            <a:avLst>
              <a:gd name="adj" fmla="val 10000"/>
            </a:avLst>
          </a:prstGeom>
          <a:solidFill>
            <a:srgbClr val="EAF0F7"/>
          </a:solidFill>
          <a:ln>
            <a:noFill/>
          </a:ln>
        </p:spPr>
        <p:txBody>
          <a:bodyPr lIns="900000" tIns="73152" rIns="320040" bIns="73152" anchor="ctr"/>
          <a:lstStyle/>
          <a:p>
            <a:pPr marL="0" indent="0">
              <a:buNone/>
            </a:pPr>
            <a:r>
              <a:rPr lang="uk-UA" sz="1600" dirty="0">
                <a:solidFill>
                  <a:srgbClr val="224D83"/>
                </a:solidFill>
              </a:rPr>
              <a:t>Спроєктовано реляційну базу даних із нормалізованою структурою та цілісними зв’язками.</a:t>
            </a:r>
          </a:p>
        </p:txBody>
      </p:sp>
      <p:sp>
        <p:nvSpPr>
          <p:cNvPr id="17" name="Номер 4"/>
          <p:cNvSpPr/>
          <p:nvPr/>
        </p:nvSpPr>
        <p:spPr>
          <a:xfrm>
            <a:off x="505000" y="4220000"/>
            <a:ext cx="480000" cy="4800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uk-UA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Теза 5"/>
          <p:cNvSpPr/>
          <p:nvPr/>
        </p:nvSpPr>
        <p:spPr>
          <a:xfrm>
            <a:off x="335000" y="4920000"/>
            <a:ext cx="11522000" cy="680000"/>
          </a:xfrm>
          <a:prstGeom prst="roundRect">
            <a:avLst>
              <a:gd name="adj" fmla="val 10000"/>
            </a:avLst>
          </a:prstGeom>
          <a:solidFill>
            <a:srgbClr val="EAF0F7"/>
          </a:solidFill>
          <a:ln>
            <a:noFill/>
          </a:ln>
        </p:spPr>
        <p:txBody>
          <a:bodyPr lIns="900000" tIns="73152" rIns="320040" bIns="73152" anchor="ctr"/>
          <a:lstStyle/>
          <a:p>
            <a:pPr marL="0" indent="0">
              <a:buNone/>
            </a:pPr>
            <a:r>
              <a:rPr lang="uk-UA" sz="1600" dirty="0">
                <a:solidFill>
                  <a:srgbClr val="224D83"/>
                </a:solidFill>
              </a:rPr>
              <a:t>Обґрунтовано технологічний стек, авторизацію через JWT та інтеграцію зовнішніх API.</a:t>
            </a:r>
          </a:p>
        </p:txBody>
      </p:sp>
      <p:sp>
        <p:nvSpPr>
          <p:cNvPr id="19" name="Номер 5"/>
          <p:cNvSpPr/>
          <p:nvPr/>
        </p:nvSpPr>
        <p:spPr>
          <a:xfrm>
            <a:off x="505000" y="5020000"/>
            <a:ext cx="480000" cy="4800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uk-UA" sz="2000" b="1" dirty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4E01AC0-4012-C34C-9179-91E8565C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Дякую 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36566552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Житомирська політехніка">
      <a:dk1>
        <a:srgbClr val="224D83"/>
      </a:dk1>
      <a:lt1>
        <a:sysClr val="window" lastClr="FFFFFF"/>
      </a:lt1>
      <a:dk2>
        <a:srgbClr val="FFFFFF"/>
      </a:dk2>
      <a:lt2>
        <a:srgbClr val="224D8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Житомирська політехніка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548</Words>
  <Application>Microsoft Office PowerPoint</Application>
  <PresentationFormat>Широкий екран</PresentationFormat>
  <Paragraphs>132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5" baseType="lpstr">
      <vt:lpstr>Aptos</vt:lpstr>
      <vt:lpstr>Arial</vt:lpstr>
      <vt:lpstr>Тема Office</vt:lpstr>
      <vt:lpstr>ДИПЛОМНА РОБОТА НА ТЕМУ “ВЕБПЛАТФОРМА АНІМЕ ТА МАНГИ”</vt:lpstr>
      <vt:lpstr>Актуальність та мета</vt:lpstr>
      <vt:lpstr>Предмет та об’єкт дослідження</vt:lpstr>
      <vt:lpstr>Аналіз аналогів</vt:lpstr>
      <vt:lpstr>Аналіз аналогів</vt:lpstr>
      <vt:lpstr>Аналіз аналогів</vt:lpstr>
      <vt:lpstr>Аналіз аналогів</vt:lpstr>
      <vt:lpstr>База даних</vt:lpstr>
      <vt:lpstr>База даних</vt:lpstr>
      <vt:lpstr>Технологічний стек</vt:lpstr>
      <vt:lpstr>Висновки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Новосьолов Іван Володимирович</dc:creator>
  <cp:lastModifiedBy>Oleksandr Zaloznyi</cp:lastModifiedBy>
  <cp:revision>28</cp:revision>
  <dcterms:created xsi:type="dcterms:W3CDTF">2023-01-12T09:20:21Z</dcterms:created>
  <dcterms:modified xsi:type="dcterms:W3CDTF">2026-05-18T08:15:20Z</dcterms:modified>
</cp:coreProperties>
</file>